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69" r:id="rId3"/>
    <p:sldId id="260" r:id="rId4"/>
    <p:sldId id="261" r:id="rId5"/>
    <p:sldId id="264" r:id="rId6"/>
    <p:sldId id="270" r:id="rId7"/>
    <p:sldId id="262" r:id="rId8"/>
    <p:sldId id="268" r:id="rId9"/>
    <p:sldId id="265" r:id="rId10"/>
    <p:sldId id="267"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76" d="100"/>
          <a:sy n="76" d="100"/>
        </p:scale>
        <p:origin x="152"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C65FF9-E0C6-1778-96DA-0A19BC9CA818}"/>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0283FAD6-9707-ACC6-AD97-BBB76FD28E4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BB60684E-2A79-750A-2268-23BDF67689C1}"/>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5" name="フッター プレースホルダー 4">
            <a:extLst>
              <a:ext uri="{FF2B5EF4-FFF2-40B4-BE49-F238E27FC236}">
                <a16:creationId xmlns:a16="http://schemas.microsoft.com/office/drawing/2014/main" id="{83B26D14-A7E9-B328-201E-2E88BE76FCF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4105281-778E-5AEE-0F62-F410FEFD389F}"/>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2321109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385A1E-25D8-F29B-240A-AF38416015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F81C667-66F9-9582-F91C-FEA62363071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5ABF964-175F-A4AC-0709-470A213D6AF3}"/>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5" name="フッター プレースホルダー 4">
            <a:extLst>
              <a:ext uri="{FF2B5EF4-FFF2-40B4-BE49-F238E27FC236}">
                <a16:creationId xmlns:a16="http://schemas.microsoft.com/office/drawing/2014/main" id="{ABBF159B-F334-B840-E19E-7E3DCEAEED2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34BD3E9-76B9-C947-BF1D-47F36420DE83}"/>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2870906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D38EA8-E7FC-5984-C9A7-84D007C62C3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07A7CA3-5D4A-3D10-0525-49F24C1A9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826D71FC-C8A6-BB25-8445-A834681F842B}"/>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5" name="フッター プレースホルダー 4">
            <a:extLst>
              <a:ext uri="{FF2B5EF4-FFF2-40B4-BE49-F238E27FC236}">
                <a16:creationId xmlns:a16="http://schemas.microsoft.com/office/drawing/2014/main" id="{1FC0DC81-0117-D83E-E425-AF1CAB2018A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3F94906-0607-439D-B2D4-65380DFE27E2}"/>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3294352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FD21DF-A57C-2003-303D-5B540E76B74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36D9D90-7C30-916A-8E9F-0E014A3B0AA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8FDAE0D-D3FA-C382-71E6-A01E8F442C4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C123913-7577-6485-176D-F078504ED18E}"/>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6" name="フッター プレースホルダー 5">
            <a:extLst>
              <a:ext uri="{FF2B5EF4-FFF2-40B4-BE49-F238E27FC236}">
                <a16:creationId xmlns:a16="http://schemas.microsoft.com/office/drawing/2014/main" id="{63ED5E50-CBE2-3F32-4182-39A62C382ED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EEB9C63-5E73-02C3-1B5E-6918F3C618E2}"/>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1253732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930AD4-FD63-1F46-1F24-3B1E3A213854}"/>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11F6014-0976-5D79-FBBE-61767AB865B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B1D6EAD-07A7-1E70-8901-46A495F2D308}"/>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EAF41307-2B49-061F-B945-D1219E5BED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0F25B51-1634-05E3-8962-3EA388147C0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2F26C2A-BA80-ADE9-F355-F04461574C82}"/>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8" name="フッター プレースホルダー 7">
            <a:extLst>
              <a:ext uri="{FF2B5EF4-FFF2-40B4-BE49-F238E27FC236}">
                <a16:creationId xmlns:a16="http://schemas.microsoft.com/office/drawing/2014/main" id="{69830E59-21D8-7204-C689-C051C03CDC2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F03E1C4F-2243-2E4A-6F79-E96951F72D35}"/>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31104740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E4EADF-1030-1B75-7373-6727336E85A0}"/>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D3AB9E42-9B86-EC7B-4265-91A6D693655F}"/>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4" name="フッター プレースホルダー 3">
            <a:extLst>
              <a:ext uri="{FF2B5EF4-FFF2-40B4-BE49-F238E27FC236}">
                <a16:creationId xmlns:a16="http://schemas.microsoft.com/office/drawing/2014/main" id="{141C58AB-DBDF-056B-D965-65C0359FFB6F}"/>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A5E5C336-719E-5470-7591-60A3720AB3ED}"/>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31228047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3AEDCE2-ACD9-3DA1-139A-46ADEA67A717}"/>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3" name="フッター プレースホルダー 2">
            <a:extLst>
              <a:ext uri="{FF2B5EF4-FFF2-40B4-BE49-F238E27FC236}">
                <a16:creationId xmlns:a16="http://schemas.microsoft.com/office/drawing/2014/main" id="{F66E010A-0674-01A0-9E18-5757E3C8E01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C7D1688-CC64-67E8-DBCA-8E0971D07D33}"/>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1683043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3AEDCE2-ACD9-3DA1-139A-46ADEA67A717}"/>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3" name="フッター プレースホルダー 2">
            <a:extLst>
              <a:ext uri="{FF2B5EF4-FFF2-40B4-BE49-F238E27FC236}">
                <a16:creationId xmlns:a16="http://schemas.microsoft.com/office/drawing/2014/main" id="{F66E010A-0674-01A0-9E18-5757E3C8E01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C7D1688-CC64-67E8-DBCA-8E0971D07D33}"/>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
        <p:nvSpPr>
          <p:cNvPr id="5" name="正方形/長方形 4">
            <a:extLst>
              <a:ext uri="{FF2B5EF4-FFF2-40B4-BE49-F238E27FC236}">
                <a16:creationId xmlns:a16="http://schemas.microsoft.com/office/drawing/2014/main" id="{B612ECB3-DAB2-46AC-CC40-D56D5C732EA6}"/>
              </a:ext>
            </a:extLst>
          </p:cNvPr>
          <p:cNvSpPr/>
          <p:nvPr userDrawn="1"/>
        </p:nvSpPr>
        <p:spPr>
          <a:xfrm>
            <a:off x="0" y="0"/>
            <a:ext cx="12192000" cy="1122363"/>
          </a:xfrm>
          <a:prstGeom prst="rect">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コンテンツ プレースホルダー 6">
            <a:extLst>
              <a:ext uri="{FF2B5EF4-FFF2-40B4-BE49-F238E27FC236}">
                <a16:creationId xmlns:a16="http://schemas.microsoft.com/office/drawing/2014/main" id="{AE53088E-0671-33A3-58B2-F661EF5F922C}"/>
              </a:ext>
            </a:extLst>
          </p:cNvPr>
          <p:cNvSpPr>
            <a:spLocks noGrp="1"/>
          </p:cNvSpPr>
          <p:nvPr>
            <p:ph sz="quarter" idx="13" hasCustomPrompt="1"/>
          </p:nvPr>
        </p:nvSpPr>
        <p:spPr>
          <a:xfrm>
            <a:off x="838200" y="136525"/>
            <a:ext cx="10515600" cy="914400"/>
          </a:xfrm>
        </p:spPr>
        <p:txBody>
          <a:bodyPr anchor="ct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タイトル</a:t>
            </a:r>
          </a:p>
        </p:txBody>
      </p:sp>
      <p:sp>
        <p:nvSpPr>
          <p:cNvPr id="9" name="コンテンツ プレースホルダー 8">
            <a:extLst>
              <a:ext uri="{FF2B5EF4-FFF2-40B4-BE49-F238E27FC236}">
                <a16:creationId xmlns:a16="http://schemas.microsoft.com/office/drawing/2014/main" id="{4530942C-9CE4-7891-BA43-0196932A69C3}"/>
              </a:ext>
            </a:extLst>
          </p:cNvPr>
          <p:cNvSpPr>
            <a:spLocks noGrp="1"/>
          </p:cNvSpPr>
          <p:nvPr>
            <p:ph sz="quarter" idx="14"/>
          </p:nvPr>
        </p:nvSpPr>
        <p:spPr>
          <a:xfrm>
            <a:off x="838200" y="1654140"/>
            <a:ext cx="10515599" cy="1910993"/>
          </a:xfrm>
        </p:spPr>
        <p:txBody>
          <a:bodyPr/>
          <a:lstStyle>
            <a:lvl1pPr marL="228600" indent="-228600">
              <a:lnSpc>
                <a:spcPct val="110000"/>
              </a:lnSpc>
              <a:buFont typeface="Wingdings" panose="05000000000000000000" pitchFamily="2" charset="2"/>
              <a:buChar char="ü"/>
              <a:defRPr/>
            </a:lvl1pPr>
            <a:lvl2pPr marL="685800" indent="-228600">
              <a:lnSpc>
                <a:spcPct val="110000"/>
              </a:lnSpc>
              <a:buFont typeface="Wingdings" panose="05000000000000000000" pitchFamily="2" charset="2"/>
              <a:buChar char="ü"/>
              <a:defRPr/>
            </a:lvl2pPr>
            <a:lvl3pPr marL="1143000" indent="-228600">
              <a:lnSpc>
                <a:spcPct val="110000"/>
              </a:lnSpc>
              <a:buFont typeface="Wingdings" panose="05000000000000000000" pitchFamily="2" charset="2"/>
              <a:buChar char="ü"/>
              <a:defRPr/>
            </a:lvl3pPr>
            <a:lvl4pPr marL="1600200" indent="-228600">
              <a:lnSpc>
                <a:spcPct val="110000"/>
              </a:lnSpc>
              <a:buFont typeface="Wingdings" panose="05000000000000000000" pitchFamily="2" charset="2"/>
              <a:buChar char="ü"/>
              <a:defRPr/>
            </a:lvl4pPr>
            <a:lvl5pPr marL="2057400" indent="-228600">
              <a:lnSpc>
                <a:spcPct val="110000"/>
              </a:lnSpc>
              <a:buFont typeface="Wingdings" panose="05000000000000000000" pitchFamily="2" charset="2"/>
              <a:buChar char="ü"/>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10" name="コンテンツ プレースホルダー 8">
            <a:extLst>
              <a:ext uri="{FF2B5EF4-FFF2-40B4-BE49-F238E27FC236}">
                <a16:creationId xmlns:a16="http://schemas.microsoft.com/office/drawing/2014/main" id="{0D2FCD36-C1C0-8DA1-9E8F-64A555B2C443}"/>
              </a:ext>
            </a:extLst>
          </p:cNvPr>
          <p:cNvSpPr>
            <a:spLocks noGrp="1"/>
          </p:cNvSpPr>
          <p:nvPr>
            <p:ph sz="quarter" idx="15"/>
          </p:nvPr>
        </p:nvSpPr>
        <p:spPr>
          <a:xfrm>
            <a:off x="838200" y="4248363"/>
            <a:ext cx="10515599" cy="1910993"/>
          </a:xfrm>
        </p:spPr>
        <p:txBody>
          <a:bodyPr/>
          <a:lstStyle>
            <a:lvl1pPr marL="228600" indent="-228600">
              <a:lnSpc>
                <a:spcPct val="110000"/>
              </a:lnSpc>
              <a:buFont typeface="Wingdings" panose="05000000000000000000" pitchFamily="2" charset="2"/>
              <a:buChar char="ü"/>
              <a:defRPr/>
            </a:lvl1pPr>
            <a:lvl2pPr marL="685800" indent="-228600">
              <a:lnSpc>
                <a:spcPct val="110000"/>
              </a:lnSpc>
              <a:buFont typeface="Wingdings" panose="05000000000000000000" pitchFamily="2" charset="2"/>
              <a:buChar char="ü"/>
              <a:defRPr/>
            </a:lvl2pPr>
            <a:lvl3pPr marL="1143000" indent="-228600">
              <a:lnSpc>
                <a:spcPct val="110000"/>
              </a:lnSpc>
              <a:buFont typeface="Wingdings" panose="05000000000000000000" pitchFamily="2" charset="2"/>
              <a:buChar char="ü"/>
              <a:defRPr/>
            </a:lvl3pPr>
            <a:lvl4pPr marL="1600200" indent="-228600">
              <a:lnSpc>
                <a:spcPct val="110000"/>
              </a:lnSpc>
              <a:buFont typeface="Wingdings" panose="05000000000000000000" pitchFamily="2" charset="2"/>
              <a:buChar char="ü"/>
              <a:defRPr/>
            </a:lvl4pPr>
            <a:lvl5pPr marL="2057400" indent="-228600">
              <a:lnSpc>
                <a:spcPct val="110000"/>
              </a:lnSpc>
              <a:buFont typeface="Wingdings" panose="05000000000000000000" pitchFamily="2" charset="2"/>
              <a:buChar char="ü"/>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4460127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3AEDCE2-ACD9-3DA1-139A-46ADEA67A717}"/>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3" name="フッター プレースホルダー 2">
            <a:extLst>
              <a:ext uri="{FF2B5EF4-FFF2-40B4-BE49-F238E27FC236}">
                <a16:creationId xmlns:a16="http://schemas.microsoft.com/office/drawing/2014/main" id="{F66E010A-0674-01A0-9E18-5757E3C8E01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C7D1688-CC64-67E8-DBCA-8E0971D07D33}"/>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
        <p:nvSpPr>
          <p:cNvPr id="5" name="正方形/長方形 4">
            <a:extLst>
              <a:ext uri="{FF2B5EF4-FFF2-40B4-BE49-F238E27FC236}">
                <a16:creationId xmlns:a16="http://schemas.microsoft.com/office/drawing/2014/main" id="{B612ECB3-DAB2-46AC-CC40-D56D5C732EA6}"/>
              </a:ext>
            </a:extLst>
          </p:cNvPr>
          <p:cNvSpPr/>
          <p:nvPr userDrawn="1"/>
        </p:nvSpPr>
        <p:spPr>
          <a:xfrm>
            <a:off x="0" y="0"/>
            <a:ext cx="12192000" cy="1122363"/>
          </a:xfrm>
          <a:prstGeom prst="rect">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コンテンツ プレースホルダー 6">
            <a:extLst>
              <a:ext uri="{FF2B5EF4-FFF2-40B4-BE49-F238E27FC236}">
                <a16:creationId xmlns:a16="http://schemas.microsoft.com/office/drawing/2014/main" id="{AE53088E-0671-33A3-58B2-F661EF5F922C}"/>
              </a:ext>
            </a:extLst>
          </p:cNvPr>
          <p:cNvSpPr>
            <a:spLocks noGrp="1"/>
          </p:cNvSpPr>
          <p:nvPr>
            <p:ph sz="quarter" idx="13" hasCustomPrompt="1"/>
          </p:nvPr>
        </p:nvSpPr>
        <p:spPr>
          <a:xfrm>
            <a:off x="838200" y="136525"/>
            <a:ext cx="10515600" cy="914400"/>
          </a:xfrm>
        </p:spPr>
        <p:txBody>
          <a:bodyPr anchor="ctr"/>
          <a:lstStyle>
            <a:lvl1pPr marL="0" indent="0">
              <a:buNone/>
              <a:defRPr sz="4000"/>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タイトル</a:t>
            </a:r>
          </a:p>
        </p:txBody>
      </p:sp>
      <p:sp>
        <p:nvSpPr>
          <p:cNvPr id="9" name="コンテンツ プレースホルダー 8">
            <a:extLst>
              <a:ext uri="{FF2B5EF4-FFF2-40B4-BE49-F238E27FC236}">
                <a16:creationId xmlns:a16="http://schemas.microsoft.com/office/drawing/2014/main" id="{4530942C-9CE4-7891-BA43-0196932A69C3}"/>
              </a:ext>
            </a:extLst>
          </p:cNvPr>
          <p:cNvSpPr>
            <a:spLocks noGrp="1"/>
          </p:cNvSpPr>
          <p:nvPr>
            <p:ph sz="quarter" idx="14"/>
          </p:nvPr>
        </p:nvSpPr>
        <p:spPr>
          <a:xfrm>
            <a:off x="838200" y="1654140"/>
            <a:ext cx="10515599" cy="4458984"/>
          </a:xfrm>
        </p:spPr>
        <p:txBody>
          <a:bodyPr/>
          <a:lstStyle>
            <a:lvl1pPr marL="228600" indent="-228600">
              <a:lnSpc>
                <a:spcPct val="110000"/>
              </a:lnSpc>
              <a:buFont typeface="Wingdings" panose="05000000000000000000" pitchFamily="2" charset="2"/>
              <a:buChar char="ü"/>
              <a:defRPr/>
            </a:lvl1pPr>
            <a:lvl2pPr marL="685800" indent="-228600">
              <a:lnSpc>
                <a:spcPct val="110000"/>
              </a:lnSpc>
              <a:buFont typeface="Wingdings" panose="05000000000000000000" pitchFamily="2" charset="2"/>
              <a:buChar char="ü"/>
              <a:defRPr/>
            </a:lvl2pPr>
            <a:lvl3pPr marL="1143000" indent="-228600">
              <a:lnSpc>
                <a:spcPct val="110000"/>
              </a:lnSpc>
              <a:buFont typeface="Wingdings" panose="05000000000000000000" pitchFamily="2" charset="2"/>
              <a:buChar char="ü"/>
              <a:defRPr/>
            </a:lvl3pPr>
            <a:lvl4pPr marL="1600200" indent="-228600">
              <a:lnSpc>
                <a:spcPct val="110000"/>
              </a:lnSpc>
              <a:buFont typeface="Wingdings" panose="05000000000000000000" pitchFamily="2" charset="2"/>
              <a:buChar char="ü"/>
              <a:defRPr/>
            </a:lvl4pPr>
            <a:lvl5pPr marL="2057400" indent="-228600">
              <a:lnSpc>
                <a:spcPct val="110000"/>
              </a:lnSpc>
              <a:buFont typeface="Wingdings" panose="05000000000000000000" pitchFamily="2" charset="2"/>
              <a:buChar char="ü"/>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236246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C9655E-3667-9F7B-AFB2-0943F0C18FE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C7BB87-751E-6D96-2089-3DC1886F92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52DE3D8-AC95-C0C8-E219-CB0B81BE56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F503F07-0BA5-B695-AB7D-DD15D9D3669C}"/>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6" name="フッター プレースホルダー 5">
            <a:extLst>
              <a:ext uri="{FF2B5EF4-FFF2-40B4-BE49-F238E27FC236}">
                <a16:creationId xmlns:a16="http://schemas.microsoft.com/office/drawing/2014/main" id="{B000F4D1-6EAA-B2E3-1694-A7307F59D1F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3712F62-EEB2-0A85-66ED-5FE4FB222DDF}"/>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1912256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F620F4A-335B-8E0C-4AA0-5F6F552B66D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4A61FC0-8671-D270-E2DD-202A11895D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7BE273D-A276-69D0-1817-F34DC85741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9588CDE-340A-377B-A140-E4E65F54CA69}"/>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6" name="フッター プレースホルダー 5">
            <a:extLst>
              <a:ext uri="{FF2B5EF4-FFF2-40B4-BE49-F238E27FC236}">
                <a16:creationId xmlns:a16="http://schemas.microsoft.com/office/drawing/2014/main" id="{3541D1E4-9A2D-0668-EBD0-1E9FCE26D53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1B06CA2-D846-E965-FD7E-3A811A467BD5}"/>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29802902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D30128-2510-E416-5201-A524C1CF55AF}"/>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D00892F-89D6-E9CA-F0BC-B81697797B0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E91804A-A52E-06F1-D1F2-BC8B37035047}"/>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5" name="フッター プレースホルダー 4">
            <a:extLst>
              <a:ext uri="{FF2B5EF4-FFF2-40B4-BE49-F238E27FC236}">
                <a16:creationId xmlns:a16="http://schemas.microsoft.com/office/drawing/2014/main" id="{6C517CA8-2364-2459-7E47-B775892EB1D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CA5234-9F0D-4B8A-B0EF-96107D2B6E69}"/>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3886176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13D6694A-A734-BAC3-1380-C2D4FD22463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D56B848-47F7-4120-1FE1-1D836805029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859AAE1-DD63-FBD1-AF03-B28996096852}"/>
              </a:ext>
            </a:extLst>
          </p:cNvPr>
          <p:cNvSpPr>
            <a:spLocks noGrp="1"/>
          </p:cNvSpPr>
          <p:nvPr>
            <p:ph type="dt" sz="half" idx="10"/>
          </p:nvPr>
        </p:nvSpPr>
        <p:spPr/>
        <p:txBody>
          <a:bodyPr/>
          <a:lstStyle/>
          <a:p>
            <a:fld id="{BFB90833-F57C-4EBE-9135-89DF04AFECF2}" type="datetimeFigureOut">
              <a:rPr kumimoji="1" lang="ja-JP" altLang="en-US" smtClean="0"/>
              <a:t>2026/1/12</a:t>
            </a:fld>
            <a:endParaRPr kumimoji="1" lang="ja-JP" altLang="en-US"/>
          </a:p>
        </p:txBody>
      </p:sp>
      <p:sp>
        <p:nvSpPr>
          <p:cNvPr id="5" name="フッター プレースホルダー 4">
            <a:extLst>
              <a:ext uri="{FF2B5EF4-FFF2-40B4-BE49-F238E27FC236}">
                <a16:creationId xmlns:a16="http://schemas.microsoft.com/office/drawing/2014/main" id="{4F3A4166-94DA-A80F-F822-0732734C578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5FC0A9-C408-4D95-331F-0AFE9D65F514}"/>
              </a:ext>
            </a:extLst>
          </p:cNvPr>
          <p:cNvSpPr>
            <a:spLocks noGrp="1"/>
          </p:cNvSpPr>
          <p:nvPr>
            <p:ph type="sldNum" sz="quarter" idx="12"/>
          </p:nvPr>
        </p:nvSpPr>
        <p:spPr/>
        <p:txBody>
          <a:body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1521679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A4D8D874-FACB-C82B-7F5E-38B85607348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C475B58-117F-D89D-3D5F-3374368B9E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654A5A3-16A5-4F5A-208B-8843338D22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B90833-F57C-4EBE-9135-89DF04AFECF2}" type="datetimeFigureOut">
              <a:rPr kumimoji="1" lang="ja-JP" altLang="en-US" smtClean="0"/>
              <a:t>2026/1/12</a:t>
            </a:fld>
            <a:endParaRPr kumimoji="1" lang="ja-JP" altLang="en-US"/>
          </a:p>
        </p:txBody>
      </p:sp>
      <p:sp>
        <p:nvSpPr>
          <p:cNvPr id="5" name="フッター プレースホルダー 4">
            <a:extLst>
              <a:ext uri="{FF2B5EF4-FFF2-40B4-BE49-F238E27FC236}">
                <a16:creationId xmlns:a16="http://schemas.microsoft.com/office/drawing/2014/main" id="{326949F9-F712-9308-E181-814428D049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8046843-1340-8618-6CCA-3B9DE8F294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111375-1322-4A73-8A54-130552A2DD32}" type="slidenum">
              <a:rPr kumimoji="1" lang="ja-JP" altLang="en-US" smtClean="0"/>
              <a:t>‹#›</a:t>
            </a:fld>
            <a:endParaRPr kumimoji="1" lang="ja-JP" altLang="en-US"/>
          </a:p>
        </p:txBody>
      </p:sp>
    </p:spTree>
    <p:extLst>
      <p:ext uri="{BB962C8B-B14F-4D97-AF65-F5344CB8AC3E}">
        <p14:creationId xmlns:p14="http://schemas.microsoft.com/office/powerpoint/2010/main" val="73151404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4" r:id="rId8"/>
    <p:sldLayoutId id="2147483685" r:id="rId9"/>
    <p:sldLayoutId id="2147483680" r:id="rId10"/>
    <p:sldLayoutId id="2147483681" r:id="rId11"/>
    <p:sldLayoutId id="2147483682" r:id="rId12"/>
    <p:sldLayoutId id="2147483683" r:id="rId1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字幕 2">
            <a:extLst>
              <a:ext uri="{FF2B5EF4-FFF2-40B4-BE49-F238E27FC236}">
                <a16:creationId xmlns:a16="http://schemas.microsoft.com/office/drawing/2014/main" id="{4322B7E9-E761-4C7C-C39B-7291540B738F}"/>
              </a:ext>
            </a:extLst>
          </p:cNvPr>
          <p:cNvSpPr>
            <a:spLocks noGrp="1"/>
          </p:cNvSpPr>
          <p:nvPr>
            <p:ph type="subTitle" idx="1"/>
          </p:nvPr>
        </p:nvSpPr>
        <p:spPr>
          <a:xfrm>
            <a:off x="3696597" y="5558670"/>
            <a:ext cx="9144000" cy="558901"/>
          </a:xfrm>
        </p:spPr>
        <p:txBody>
          <a:bodyPr/>
          <a:lstStyle/>
          <a:p>
            <a:r>
              <a:rPr lang="ja-JP" altLang="en-US" dirty="0"/>
              <a:t>ロジスティック回帰と統計検定による施策判断</a:t>
            </a:r>
            <a:endParaRPr kumimoji="1" lang="ja-JP" altLang="en-US" dirty="0"/>
          </a:p>
        </p:txBody>
      </p:sp>
      <p:sp>
        <p:nvSpPr>
          <p:cNvPr id="6" name="正方形/長方形 5">
            <a:extLst>
              <a:ext uri="{FF2B5EF4-FFF2-40B4-BE49-F238E27FC236}">
                <a16:creationId xmlns:a16="http://schemas.microsoft.com/office/drawing/2014/main" id="{851743EC-946C-B17F-022F-70D519E73F38}"/>
              </a:ext>
            </a:extLst>
          </p:cNvPr>
          <p:cNvSpPr/>
          <p:nvPr/>
        </p:nvSpPr>
        <p:spPr>
          <a:xfrm>
            <a:off x="0" y="0"/>
            <a:ext cx="12192000" cy="4613097"/>
          </a:xfrm>
          <a:prstGeom prst="rect">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B77A6D6E-BFEF-D2DF-6505-AFF537970CD7}"/>
              </a:ext>
            </a:extLst>
          </p:cNvPr>
          <p:cNvSpPr>
            <a:spLocks noGrp="1"/>
          </p:cNvSpPr>
          <p:nvPr>
            <p:ph type="ctrTitle"/>
          </p:nvPr>
        </p:nvSpPr>
        <p:spPr>
          <a:xfrm>
            <a:off x="1124124" y="1908831"/>
            <a:ext cx="10394775" cy="1520169"/>
          </a:xfrm>
        </p:spPr>
        <p:txBody>
          <a:bodyPr anchor="t">
            <a:noAutofit/>
          </a:bodyPr>
          <a:lstStyle/>
          <a:p>
            <a:pPr algn="l"/>
            <a:r>
              <a:rPr lang="ja-JP" altLang="en-US" sz="5200" b="1" dirty="0">
                <a:solidFill>
                  <a:schemeClr val="bg1"/>
                </a:solidFill>
              </a:rPr>
              <a:t>キャンペーン反応要因の定量化と</a:t>
            </a:r>
            <a:br>
              <a:rPr lang="en-US" altLang="ja-JP" sz="5200" b="1" dirty="0">
                <a:solidFill>
                  <a:schemeClr val="bg1"/>
                </a:solidFill>
              </a:rPr>
            </a:br>
            <a:r>
              <a:rPr lang="ja-JP" altLang="en-US" sz="5200" b="1" dirty="0">
                <a:solidFill>
                  <a:schemeClr val="bg1"/>
                </a:solidFill>
              </a:rPr>
              <a:t>配信優先順位の設計</a:t>
            </a:r>
            <a:endParaRPr kumimoji="1" lang="ja-JP" altLang="en-US" sz="5200" b="1" dirty="0">
              <a:solidFill>
                <a:schemeClr val="bg1"/>
              </a:solidFill>
            </a:endParaRPr>
          </a:p>
        </p:txBody>
      </p:sp>
    </p:spTree>
    <p:extLst>
      <p:ext uri="{BB962C8B-B14F-4D97-AF65-F5344CB8AC3E}">
        <p14:creationId xmlns:p14="http://schemas.microsoft.com/office/powerpoint/2010/main" val="39426251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52662D2C-11BA-E488-55A2-2C16A68D0A01}"/>
              </a:ext>
            </a:extLst>
          </p:cNvPr>
          <p:cNvSpPr>
            <a:spLocks noGrp="1"/>
          </p:cNvSpPr>
          <p:nvPr>
            <p:ph sz="quarter" idx="13"/>
          </p:nvPr>
        </p:nvSpPr>
        <p:spPr/>
        <p:txBody>
          <a:bodyPr/>
          <a:lstStyle/>
          <a:p>
            <a:r>
              <a:rPr kumimoji="1" lang="en-US" altLang="ja-JP" dirty="0">
                <a:solidFill>
                  <a:schemeClr val="bg1"/>
                </a:solidFill>
              </a:rPr>
              <a:t>Executive Summary</a:t>
            </a:r>
            <a:endParaRPr kumimoji="1" lang="ja-JP" altLang="en-US" dirty="0">
              <a:solidFill>
                <a:schemeClr val="bg1"/>
              </a:solidFill>
            </a:endParaRPr>
          </a:p>
        </p:txBody>
      </p:sp>
      <p:sp>
        <p:nvSpPr>
          <p:cNvPr id="3" name="コンテンツ プレースホルダー 2">
            <a:extLst>
              <a:ext uri="{FF2B5EF4-FFF2-40B4-BE49-F238E27FC236}">
                <a16:creationId xmlns:a16="http://schemas.microsoft.com/office/drawing/2014/main" id="{7507FA32-39D2-DB01-B54F-3E3A5C2E8BF5}"/>
              </a:ext>
            </a:extLst>
          </p:cNvPr>
          <p:cNvSpPr>
            <a:spLocks noGrp="1"/>
          </p:cNvSpPr>
          <p:nvPr>
            <p:ph sz="quarter" idx="14"/>
          </p:nvPr>
        </p:nvSpPr>
        <p:spPr/>
        <p:txBody>
          <a:bodyPr>
            <a:normAutofit/>
          </a:bodyPr>
          <a:lstStyle/>
          <a:p>
            <a:r>
              <a:rPr kumimoji="1" lang="ja-JP" altLang="en-US" dirty="0"/>
              <a:t>過去キャンペーンの反応ログと顧客属性データを用いて、</a:t>
            </a:r>
            <a:br>
              <a:rPr kumimoji="1" lang="en-US" altLang="ja-JP" dirty="0"/>
            </a:br>
            <a:r>
              <a:rPr kumimoji="1" lang="ja-JP" altLang="en-US" dirty="0"/>
              <a:t>キャンペーンに反応しやすい顧客の特徴を定量的に整理した。</a:t>
            </a:r>
            <a:endParaRPr kumimoji="1" lang="en-US" altLang="ja-JP" dirty="0"/>
          </a:p>
          <a:p>
            <a:r>
              <a:rPr lang="ja-JP" altLang="en-US" dirty="0"/>
              <a:t>ロジスティック回帰および統計検定の結果、</a:t>
            </a:r>
            <a:br>
              <a:rPr lang="en-US" altLang="ja-JP" dirty="0"/>
            </a:br>
            <a:r>
              <a:rPr lang="ja-JP" altLang="en-US" b="1" dirty="0"/>
              <a:t>収入水準および学歴</a:t>
            </a:r>
            <a:r>
              <a:rPr lang="ja-JP" altLang="en-US" dirty="0"/>
              <a:t>がキャンペーン反応確率に有意に寄与することが確認された。</a:t>
            </a:r>
            <a:br>
              <a:rPr kumimoji="1" lang="en-US" altLang="ja-JP" b="1" dirty="0"/>
            </a:br>
            <a:r>
              <a:rPr kumimoji="1" lang="ja-JP" altLang="en-US" b="1" dirty="0"/>
              <a:t>提案：</a:t>
            </a:r>
            <a:endParaRPr kumimoji="1" lang="en-US" altLang="ja-JP" b="1" dirty="0"/>
          </a:p>
          <a:p>
            <a:r>
              <a:rPr kumimoji="1" lang="ja-JP" altLang="en-US" dirty="0"/>
              <a:t>以上より、全顧客一律配信ではなく、収入および学歴を軸とした配信優先順位付けが有効だと推察される。</a:t>
            </a:r>
          </a:p>
        </p:txBody>
      </p:sp>
    </p:spTree>
    <p:extLst>
      <p:ext uri="{BB962C8B-B14F-4D97-AF65-F5344CB8AC3E}">
        <p14:creationId xmlns:p14="http://schemas.microsoft.com/office/powerpoint/2010/main" val="28806064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AD4AFA89-1D1B-2884-A311-6C7EB3BB8C2B}"/>
              </a:ext>
            </a:extLst>
          </p:cNvPr>
          <p:cNvSpPr>
            <a:spLocks noGrp="1"/>
          </p:cNvSpPr>
          <p:nvPr>
            <p:ph sz="quarter" idx="13"/>
          </p:nvPr>
        </p:nvSpPr>
        <p:spPr/>
        <p:txBody>
          <a:bodyPr/>
          <a:lstStyle/>
          <a:p>
            <a:r>
              <a:rPr kumimoji="1" lang="ja-JP" altLang="en-US" sz="4000" dirty="0">
                <a:solidFill>
                  <a:schemeClr val="bg1"/>
                </a:solidFill>
              </a:rPr>
              <a:t>課題</a:t>
            </a:r>
            <a:endParaRPr kumimoji="1" lang="ja-JP" altLang="en-US" dirty="0">
              <a:solidFill>
                <a:schemeClr val="bg1"/>
              </a:solidFill>
            </a:endParaRPr>
          </a:p>
        </p:txBody>
      </p:sp>
      <p:sp>
        <p:nvSpPr>
          <p:cNvPr id="3" name="コンテンツ プレースホルダー 2">
            <a:extLst>
              <a:ext uri="{FF2B5EF4-FFF2-40B4-BE49-F238E27FC236}">
                <a16:creationId xmlns:a16="http://schemas.microsoft.com/office/drawing/2014/main" id="{D33E8C6C-1C18-02AA-B178-4FFFCC14F0CB}"/>
              </a:ext>
            </a:extLst>
          </p:cNvPr>
          <p:cNvSpPr>
            <a:spLocks noGrp="1"/>
          </p:cNvSpPr>
          <p:nvPr>
            <p:ph sz="quarter" idx="14"/>
          </p:nvPr>
        </p:nvSpPr>
        <p:spPr>
          <a:xfrm>
            <a:off x="838200" y="2210329"/>
            <a:ext cx="10515599" cy="1834127"/>
          </a:xfrm>
        </p:spPr>
        <p:txBody>
          <a:bodyPr/>
          <a:lstStyle/>
          <a:p>
            <a:r>
              <a:rPr kumimoji="1" lang="ja-JP" altLang="en-US" dirty="0"/>
              <a:t>キャンペーン施策（メール・クーポン）は全顧客一律配信配信</a:t>
            </a:r>
            <a:endParaRPr kumimoji="1" lang="en-US" altLang="ja-JP" dirty="0"/>
          </a:p>
          <a:p>
            <a:r>
              <a:rPr kumimoji="1" lang="ja-JP" altLang="en-US" dirty="0"/>
              <a:t>コストが増加する一方、費用対効果が逓減</a:t>
            </a:r>
            <a:endParaRPr kumimoji="1" lang="en-US" altLang="ja-JP" dirty="0"/>
          </a:p>
          <a:p>
            <a:r>
              <a:rPr kumimoji="1" lang="ja-JP" altLang="en-US" dirty="0"/>
              <a:t>「反応しやすい顧客像」が定量的に整理されていない</a:t>
            </a:r>
          </a:p>
        </p:txBody>
      </p:sp>
      <p:sp>
        <p:nvSpPr>
          <p:cNvPr id="4" name="コンテンツ プレースホルダー 3">
            <a:extLst>
              <a:ext uri="{FF2B5EF4-FFF2-40B4-BE49-F238E27FC236}">
                <a16:creationId xmlns:a16="http://schemas.microsoft.com/office/drawing/2014/main" id="{323F71CB-517C-DE93-F48F-73E414CDA85F}"/>
              </a:ext>
            </a:extLst>
          </p:cNvPr>
          <p:cNvSpPr>
            <a:spLocks noGrp="1"/>
          </p:cNvSpPr>
          <p:nvPr>
            <p:ph sz="quarter" idx="15"/>
          </p:nvPr>
        </p:nvSpPr>
        <p:spPr>
          <a:xfrm>
            <a:off x="838200" y="5203860"/>
            <a:ext cx="10515599" cy="955496"/>
          </a:xfrm>
        </p:spPr>
        <p:txBody>
          <a:bodyPr>
            <a:normAutofit lnSpcReduction="10000"/>
          </a:bodyPr>
          <a:lstStyle/>
          <a:p>
            <a:r>
              <a:rPr lang="ja-JP" altLang="en-US" dirty="0"/>
              <a:t>誰に配信すべきかを、</a:t>
            </a:r>
            <a:br>
              <a:rPr lang="ja-JP" altLang="en-US" dirty="0"/>
            </a:br>
            <a:r>
              <a:rPr lang="ja-JP" altLang="en-US" dirty="0"/>
              <a:t>データに基づいて説明できる状態にしたい</a:t>
            </a:r>
            <a:endParaRPr kumimoji="1" lang="ja-JP" altLang="en-US" b="1" dirty="0"/>
          </a:p>
        </p:txBody>
      </p:sp>
      <p:sp>
        <p:nvSpPr>
          <p:cNvPr id="6" name="テキスト ボックス 5">
            <a:extLst>
              <a:ext uri="{FF2B5EF4-FFF2-40B4-BE49-F238E27FC236}">
                <a16:creationId xmlns:a16="http://schemas.microsoft.com/office/drawing/2014/main" id="{5658D2DB-51C0-2B28-3223-6A1A3C7EA2E2}"/>
              </a:ext>
            </a:extLst>
          </p:cNvPr>
          <p:cNvSpPr txBox="1"/>
          <p:nvPr/>
        </p:nvSpPr>
        <p:spPr>
          <a:xfrm>
            <a:off x="838200" y="1727200"/>
            <a:ext cx="1723549" cy="461665"/>
          </a:xfrm>
          <a:prstGeom prst="rect">
            <a:avLst/>
          </a:prstGeom>
          <a:noFill/>
        </p:spPr>
        <p:txBody>
          <a:bodyPr wrap="none" rtlCol="0">
            <a:spAutoFit/>
          </a:bodyPr>
          <a:lstStyle/>
          <a:p>
            <a:r>
              <a:rPr kumimoji="1" lang="ja-JP" altLang="en-US" sz="2400" b="1" dirty="0">
                <a:solidFill>
                  <a:schemeClr val="accent5"/>
                </a:solidFill>
              </a:rPr>
              <a:t>現状の課題</a:t>
            </a:r>
          </a:p>
        </p:txBody>
      </p:sp>
      <p:sp>
        <p:nvSpPr>
          <p:cNvPr id="7" name="二等辺三角形 6">
            <a:extLst>
              <a:ext uri="{FF2B5EF4-FFF2-40B4-BE49-F238E27FC236}">
                <a16:creationId xmlns:a16="http://schemas.microsoft.com/office/drawing/2014/main" id="{D4276E4B-AB2A-AD35-CA78-3D2891663DDF}"/>
              </a:ext>
            </a:extLst>
          </p:cNvPr>
          <p:cNvSpPr/>
          <p:nvPr/>
        </p:nvSpPr>
        <p:spPr>
          <a:xfrm flipV="1">
            <a:off x="5894662" y="4277024"/>
            <a:ext cx="402674" cy="347133"/>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8724D531-275C-D672-C3F3-06354682A0FF}"/>
              </a:ext>
            </a:extLst>
          </p:cNvPr>
          <p:cNvSpPr txBox="1"/>
          <p:nvPr/>
        </p:nvSpPr>
        <p:spPr>
          <a:xfrm>
            <a:off x="838199" y="4742195"/>
            <a:ext cx="1723549" cy="461665"/>
          </a:xfrm>
          <a:prstGeom prst="rect">
            <a:avLst/>
          </a:prstGeom>
          <a:noFill/>
        </p:spPr>
        <p:txBody>
          <a:bodyPr wrap="none" rtlCol="0">
            <a:spAutoFit/>
          </a:bodyPr>
          <a:lstStyle/>
          <a:p>
            <a:r>
              <a:rPr kumimoji="1" lang="ja-JP" altLang="en-US" sz="2400" b="1" dirty="0">
                <a:solidFill>
                  <a:schemeClr val="accent5"/>
                </a:solidFill>
              </a:rPr>
              <a:t>分析の目的</a:t>
            </a:r>
          </a:p>
        </p:txBody>
      </p:sp>
    </p:spTree>
    <p:extLst>
      <p:ext uri="{BB962C8B-B14F-4D97-AF65-F5344CB8AC3E}">
        <p14:creationId xmlns:p14="http://schemas.microsoft.com/office/powerpoint/2010/main" val="4294660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CDD23FB3-215C-593F-BE17-A13A8348D43B}"/>
              </a:ext>
            </a:extLst>
          </p:cNvPr>
          <p:cNvSpPr>
            <a:spLocks noGrp="1"/>
          </p:cNvSpPr>
          <p:nvPr>
            <p:ph sz="quarter" idx="13"/>
          </p:nvPr>
        </p:nvSpPr>
        <p:spPr/>
        <p:txBody>
          <a:bodyPr/>
          <a:lstStyle/>
          <a:p>
            <a:r>
              <a:rPr lang="ja-JP" altLang="en-US" dirty="0">
                <a:solidFill>
                  <a:schemeClr val="bg1"/>
                </a:solidFill>
              </a:rPr>
              <a:t>分析</a:t>
            </a:r>
            <a:r>
              <a:rPr kumimoji="1" lang="ja-JP" altLang="en-US" dirty="0">
                <a:solidFill>
                  <a:schemeClr val="bg1"/>
                </a:solidFill>
              </a:rPr>
              <a:t>アプローチ</a:t>
            </a:r>
          </a:p>
        </p:txBody>
      </p:sp>
      <p:sp>
        <p:nvSpPr>
          <p:cNvPr id="3" name="コンテンツ プレースホルダー 2">
            <a:extLst>
              <a:ext uri="{FF2B5EF4-FFF2-40B4-BE49-F238E27FC236}">
                <a16:creationId xmlns:a16="http://schemas.microsoft.com/office/drawing/2014/main" id="{EEC824EE-9BFE-2322-CB7C-9ED8D1BC69D7}"/>
              </a:ext>
            </a:extLst>
          </p:cNvPr>
          <p:cNvSpPr>
            <a:spLocks noGrp="1"/>
          </p:cNvSpPr>
          <p:nvPr>
            <p:ph sz="quarter" idx="14"/>
          </p:nvPr>
        </p:nvSpPr>
        <p:spPr/>
        <p:txBody>
          <a:bodyPr>
            <a:noAutofit/>
          </a:bodyPr>
          <a:lstStyle/>
          <a:p>
            <a:pPr marL="514350" indent="-514350">
              <a:buFont typeface="+mj-lt"/>
              <a:buAutoNum type="arabicPeriod"/>
            </a:pPr>
            <a:r>
              <a:rPr lang="ja-JP" altLang="en-US" b="1" dirty="0"/>
              <a:t>属性</a:t>
            </a:r>
            <a:r>
              <a:rPr lang="en-US" altLang="ja-JP" b="1" dirty="0"/>
              <a:t>×</a:t>
            </a:r>
            <a:r>
              <a:rPr lang="ja-JP" altLang="en-US" b="1" dirty="0"/>
              <a:t>反応ログの整理</a:t>
            </a:r>
            <a:br>
              <a:rPr lang="en-US" altLang="ja-JP" dirty="0"/>
            </a:br>
            <a:r>
              <a:rPr lang="ja-JP" altLang="en-US" dirty="0"/>
              <a:t>顧客属性とキャンペーン反応を用い、顧客ごとの反応有無を比較できる分析用データを作成</a:t>
            </a:r>
            <a:endParaRPr lang="en-US" altLang="ja-JP" dirty="0"/>
          </a:p>
          <a:p>
            <a:pPr marL="514350" indent="-514350">
              <a:buFont typeface="+mj-lt"/>
              <a:buAutoNum type="arabicPeriod"/>
            </a:pPr>
            <a:r>
              <a:rPr kumimoji="1" lang="ja-JP" altLang="en-US" b="1" dirty="0"/>
              <a:t>ロジスティック回帰による定量化</a:t>
            </a:r>
            <a:br>
              <a:rPr kumimoji="1" lang="en-US" altLang="ja-JP" dirty="0"/>
            </a:br>
            <a:r>
              <a:rPr kumimoji="1" lang="ja-JP" altLang="en-US" dirty="0"/>
              <a:t>反応確立を目的変数とし、どの属性が反応に影響しているかを定量的に把握</a:t>
            </a:r>
            <a:endParaRPr kumimoji="1" lang="en-US" altLang="ja-JP" dirty="0"/>
          </a:p>
          <a:p>
            <a:pPr marL="514350" indent="-514350">
              <a:buFont typeface="+mj-lt"/>
              <a:buAutoNum type="arabicPeriod"/>
            </a:pPr>
            <a:r>
              <a:rPr lang="ja-JP" altLang="en-US" b="1" dirty="0"/>
              <a:t>統計検定による補足検証</a:t>
            </a:r>
            <a:br>
              <a:rPr lang="en-US" altLang="ja-JP" dirty="0"/>
            </a:br>
            <a:r>
              <a:rPr lang="ja-JP" altLang="en-US" dirty="0"/>
              <a:t>検定により、回帰結果が偶然によるものではないかを確認</a:t>
            </a:r>
            <a:endParaRPr kumimoji="1" lang="en-US" altLang="ja-JP" dirty="0"/>
          </a:p>
        </p:txBody>
      </p:sp>
    </p:spTree>
    <p:extLst>
      <p:ext uri="{BB962C8B-B14F-4D97-AF65-F5344CB8AC3E}">
        <p14:creationId xmlns:p14="http://schemas.microsoft.com/office/powerpoint/2010/main" val="3111416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20DCD-CC3A-69BD-69B8-CC03FB7092D5}"/>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7F954314-A40F-EB98-282F-56AF319B0CB7}"/>
              </a:ext>
            </a:extLst>
          </p:cNvPr>
          <p:cNvSpPr>
            <a:spLocks noGrp="1"/>
          </p:cNvSpPr>
          <p:nvPr>
            <p:ph sz="quarter" idx="13"/>
          </p:nvPr>
        </p:nvSpPr>
        <p:spPr/>
        <p:txBody>
          <a:bodyPr/>
          <a:lstStyle/>
          <a:p>
            <a:r>
              <a:rPr kumimoji="1" lang="ja-JP" altLang="en-US" dirty="0">
                <a:solidFill>
                  <a:schemeClr val="bg1"/>
                </a:solidFill>
              </a:rPr>
              <a:t>分析①：ロジスティック回帰</a:t>
            </a:r>
          </a:p>
        </p:txBody>
      </p:sp>
      <p:graphicFrame>
        <p:nvGraphicFramePr>
          <p:cNvPr id="4" name="表 3">
            <a:extLst>
              <a:ext uri="{FF2B5EF4-FFF2-40B4-BE49-F238E27FC236}">
                <a16:creationId xmlns:a16="http://schemas.microsoft.com/office/drawing/2014/main" id="{0C759670-03BC-F0CF-B002-BCD6BD488842}"/>
              </a:ext>
            </a:extLst>
          </p:cNvPr>
          <p:cNvGraphicFramePr>
            <a:graphicFrameLocks noGrp="1"/>
          </p:cNvGraphicFramePr>
          <p:nvPr>
            <p:extLst>
              <p:ext uri="{D42A27DB-BD31-4B8C-83A1-F6EECF244321}">
                <p14:modId xmlns:p14="http://schemas.microsoft.com/office/powerpoint/2010/main" val="1864240943"/>
              </p:ext>
            </p:extLst>
          </p:nvPr>
        </p:nvGraphicFramePr>
        <p:xfrm>
          <a:off x="1016377" y="2448208"/>
          <a:ext cx="10159246" cy="2887254"/>
        </p:xfrm>
        <a:graphic>
          <a:graphicData uri="http://schemas.openxmlformats.org/drawingml/2006/table">
            <a:tbl>
              <a:tblPr firstRow="1" bandRow="1">
                <a:tableStyleId>{F2DE63D5-997A-4646-A377-4702673A728D}</a:tableStyleId>
              </a:tblPr>
              <a:tblGrid>
                <a:gridCol w="2889642">
                  <a:extLst>
                    <a:ext uri="{9D8B030D-6E8A-4147-A177-3AD203B41FA5}">
                      <a16:colId xmlns:a16="http://schemas.microsoft.com/office/drawing/2014/main" val="2223287118"/>
                    </a:ext>
                  </a:extLst>
                </a:gridCol>
                <a:gridCol w="2088000">
                  <a:extLst>
                    <a:ext uri="{9D8B030D-6E8A-4147-A177-3AD203B41FA5}">
                      <a16:colId xmlns:a16="http://schemas.microsoft.com/office/drawing/2014/main" val="3588801372"/>
                    </a:ext>
                  </a:extLst>
                </a:gridCol>
                <a:gridCol w="2088000">
                  <a:extLst>
                    <a:ext uri="{9D8B030D-6E8A-4147-A177-3AD203B41FA5}">
                      <a16:colId xmlns:a16="http://schemas.microsoft.com/office/drawing/2014/main" val="4063267630"/>
                    </a:ext>
                  </a:extLst>
                </a:gridCol>
                <a:gridCol w="3093604">
                  <a:extLst>
                    <a:ext uri="{9D8B030D-6E8A-4147-A177-3AD203B41FA5}">
                      <a16:colId xmlns:a16="http://schemas.microsoft.com/office/drawing/2014/main" val="1506713343"/>
                    </a:ext>
                  </a:extLst>
                </a:gridCol>
              </a:tblGrid>
              <a:tr h="540000">
                <a:tc>
                  <a:txBody>
                    <a:bodyPr/>
                    <a:lstStyle/>
                    <a:p>
                      <a:pPr algn="ctr"/>
                      <a:r>
                        <a:rPr kumimoji="1" lang="ja-JP" altLang="en-US" dirty="0"/>
                        <a:t>変数</a:t>
                      </a:r>
                    </a:p>
                  </a:txBody>
                  <a:tcPr anchor="ctr">
                    <a:solidFill>
                      <a:schemeClr val="bg1">
                        <a:lumMod val="75000"/>
                      </a:schemeClr>
                    </a:solidFill>
                  </a:tcPr>
                </a:tc>
                <a:tc>
                  <a:txBody>
                    <a:bodyPr/>
                    <a:lstStyle/>
                    <a:p>
                      <a:pPr algn="ctr"/>
                      <a:r>
                        <a:rPr kumimoji="1" lang="ja-JP" altLang="en-US" dirty="0"/>
                        <a:t>オッズ比</a:t>
                      </a:r>
                    </a:p>
                  </a:txBody>
                  <a:tcPr anchor="ctr">
                    <a:solidFill>
                      <a:schemeClr val="bg1">
                        <a:lumMod val="75000"/>
                      </a:schemeClr>
                    </a:solidFill>
                  </a:tcPr>
                </a:tc>
                <a:tc>
                  <a:txBody>
                    <a:bodyPr/>
                    <a:lstStyle/>
                    <a:p>
                      <a:pPr algn="ctr"/>
                      <a:r>
                        <a:rPr kumimoji="1" lang="ja-JP" altLang="en-US" dirty="0"/>
                        <a:t>有意性</a:t>
                      </a:r>
                    </a:p>
                  </a:txBody>
                  <a:tcPr anchor="ctr">
                    <a:solidFill>
                      <a:schemeClr val="bg1">
                        <a:lumMod val="75000"/>
                      </a:schemeClr>
                    </a:solidFill>
                  </a:tcPr>
                </a:tc>
                <a:tc>
                  <a:txBody>
                    <a:bodyPr/>
                    <a:lstStyle/>
                    <a:p>
                      <a:pPr algn="ctr"/>
                      <a:r>
                        <a:rPr kumimoji="1" lang="ja-JP" altLang="en-US" dirty="0"/>
                        <a:t>解釈</a:t>
                      </a:r>
                    </a:p>
                  </a:txBody>
                  <a:tcPr anchor="ctr">
                    <a:solidFill>
                      <a:schemeClr val="bg1">
                        <a:lumMod val="75000"/>
                      </a:schemeClr>
                    </a:solidFill>
                  </a:tcPr>
                </a:tc>
                <a:extLst>
                  <a:ext uri="{0D108BD9-81ED-4DB2-BD59-A6C34878D82A}">
                    <a16:rowId xmlns:a16="http://schemas.microsoft.com/office/drawing/2014/main" val="1620950507"/>
                  </a:ext>
                </a:extLst>
              </a:tr>
              <a:tr h="782418">
                <a:tc>
                  <a:txBody>
                    <a:bodyPr/>
                    <a:lstStyle/>
                    <a:p>
                      <a:pPr algn="l"/>
                      <a:r>
                        <a:rPr kumimoji="1" lang="ja-JP" altLang="en-US" dirty="0"/>
                        <a:t>収入水準</a:t>
                      </a:r>
                    </a:p>
                  </a:txBody>
                  <a:tcPr anchor="ctr"/>
                </a:tc>
                <a:tc>
                  <a:txBody>
                    <a:bodyPr/>
                    <a:lstStyle/>
                    <a:p>
                      <a:pPr algn="ctr"/>
                      <a:r>
                        <a:rPr kumimoji="1" lang="en-US" altLang="ja-JP" b="1" dirty="0"/>
                        <a:t>3.80</a:t>
                      </a:r>
                      <a:endParaRPr kumimoji="1" lang="ja-JP" altLang="en-US" b="1" dirty="0"/>
                    </a:p>
                  </a:txBody>
                  <a:tcPr anchor="ctr"/>
                </a:tc>
                <a:tc>
                  <a:txBody>
                    <a:bodyPr/>
                    <a:lstStyle/>
                    <a:p>
                      <a:pPr algn="ctr"/>
                      <a:r>
                        <a:rPr kumimoji="1" lang="ja-JP" altLang="en-US" dirty="0"/>
                        <a:t>★</a:t>
                      </a:r>
                    </a:p>
                  </a:txBody>
                  <a:tcPr anchor="ctr"/>
                </a:tc>
                <a:tc>
                  <a:txBody>
                    <a:bodyPr/>
                    <a:lstStyle/>
                    <a:p>
                      <a:pPr algn="ctr"/>
                      <a:r>
                        <a:rPr kumimoji="1" lang="ja-JP" altLang="en-US" dirty="0"/>
                        <a:t>収入が高いほど反応しやすい</a:t>
                      </a:r>
                    </a:p>
                  </a:txBody>
                  <a:tcPr anchor="ctr"/>
                </a:tc>
                <a:extLst>
                  <a:ext uri="{0D108BD9-81ED-4DB2-BD59-A6C34878D82A}">
                    <a16:rowId xmlns:a16="http://schemas.microsoft.com/office/drawing/2014/main" val="966084132"/>
                  </a:ext>
                </a:extLst>
              </a:tr>
              <a:tr h="782418">
                <a:tc>
                  <a:txBody>
                    <a:bodyPr/>
                    <a:lstStyle/>
                    <a:p>
                      <a:pPr algn="l"/>
                      <a:r>
                        <a:rPr kumimoji="1" lang="ja-JP" altLang="en-US" dirty="0"/>
                        <a:t>学歴（大卒以上）</a:t>
                      </a:r>
                    </a:p>
                  </a:txBody>
                  <a:tcPr anchor="ctr"/>
                </a:tc>
                <a:tc>
                  <a:txBody>
                    <a:bodyPr/>
                    <a:lstStyle/>
                    <a:p>
                      <a:pPr algn="ctr"/>
                      <a:r>
                        <a:rPr kumimoji="1" lang="en-US" altLang="ja-JP" b="1" dirty="0"/>
                        <a:t>1.48</a:t>
                      </a:r>
                      <a:endParaRPr kumimoji="1" lang="ja-JP" altLang="en-US" b="1" dirty="0"/>
                    </a:p>
                  </a:txBody>
                  <a:tcPr anchor="ctr"/>
                </a:tc>
                <a:tc>
                  <a:txBody>
                    <a:bodyPr/>
                    <a:lstStyle/>
                    <a:p>
                      <a:pPr algn="ctr"/>
                      <a:r>
                        <a:rPr kumimoji="1" lang="ja-JP" altLang="en-US" dirty="0"/>
                        <a:t>★</a:t>
                      </a:r>
                    </a:p>
                  </a:txBody>
                  <a:tcPr anchor="ctr"/>
                </a:tc>
                <a:tc>
                  <a:txBody>
                    <a:bodyPr/>
                    <a:lstStyle/>
                    <a:p>
                      <a:pPr algn="ctr"/>
                      <a:r>
                        <a:rPr kumimoji="1" lang="ja-JP" altLang="en-US" dirty="0"/>
                        <a:t>大卒以上で反応確立が高い</a:t>
                      </a:r>
                    </a:p>
                  </a:txBody>
                  <a:tcPr anchor="ctr"/>
                </a:tc>
                <a:extLst>
                  <a:ext uri="{0D108BD9-81ED-4DB2-BD59-A6C34878D82A}">
                    <a16:rowId xmlns:a16="http://schemas.microsoft.com/office/drawing/2014/main" val="1714161579"/>
                  </a:ext>
                </a:extLst>
              </a:tr>
              <a:tr h="782418">
                <a:tc>
                  <a:txBody>
                    <a:bodyPr/>
                    <a:lstStyle/>
                    <a:p>
                      <a:pPr algn="l"/>
                      <a:r>
                        <a:rPr kumimoji="1" lang="ja-JP" altLang="en-US" dirty="0"/>
                        <a:t>パートナー有無</a:t>
                      </a:r>
                    </a:p>
                  </a:txBody>
                  <a:tcPr anchor="ctr"/>
                </a:tc>
                <a:tc>
                  <a:txBody>
                    <a:bodyPr/>
                    <a:lstStyle/>
                    <a:p>
                      <a:pPr algn="ctr"/>
                      <a:r>
                        <a:rPr kumimoji="1" lang="en-US" altLang="ja-JP" dirty="0"/>
                        <a:t>1.40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ja-JP" altLang="en-US" dirty="0"/>
                        <a:t>単独では明確な差はみられず</a:t>
                      </a:r>
                    </a:p>
                  </a:txBody>
                  <a:tcPr anchor="ctr"/>
                </a:tc>
                <a:extLst>
                  <a:ext uri="{0D108BD9-81ED-4DB2-BD59-A6C34878D82A}">
                    <a16:rowId xmlns:a16="http://schemas.microsoft.com/office/drawing/2014/main" val="3052819393"/>
                  </a:ext>
                </a:extLst>
              </a:tr>
            </a:tbl>
          </a:graphicData>
        </a:graphic>
      </p:graphicFrame>
      <p:sp>
        <p:nvSpPr>
          <p:cNvPr id="7" name="テキスト ボックス 6">
            <a:extLst>
              <a:ext uri="{FF2B5EF4-FFF2-40B4-BE49-F238E27FC236}">
                <a16:creationId xmlns:a16="http://schemas.microsoft.com/office/drawing/2014/main" id="{20306925-53B6-24EB-AE3D-64E6F77983B8}"/>
              </a:ext>
            </a:extLst>
          </p:cNvPr>
          <p:cNvSpPr txBox="1"/>
          <p:nvPr/>
        </p:nvSpPr>
        <p:spPr>
          <a:xfrm>
            <a:off x="906012" y="1853967"/>
            <a:ext cx="3647152" cy="369332"/>
          </a:xfrm>
          <a:prstGeom prst="rect">
            <a:avLst/>
          </a:prstGeom>
          <a:noFill/>
        </p:spPr>
        <p:txBody>
          <a:bodyPr wrap="none" rtlCol="0">
            <a:spAutoFit/>
          </a:bodyPr>
          <a:lstStyle/>
          <a:p>
            <a:r>
              <a:rPr lang="ja-JP" altLang="en-US" b="1" dirty="0">
                <a:solidFill>
                  <a:schemeClr val="accent5"/>
                </a:solidFill>
              </a:rPr>
              <a:t>キャンペーン反応に影響する要因</a:t>
            </a:r>
            <a:endParaRPr kumimoji="1" lang="ja-JP" altLang="en-US" b="1" dirty="0">
              <a:solidFill>
                <a:schemeClr val="accent5"/>
              </a:solidFill>
            </a:endParaRPr>
          </a:p>
        </p:txBody>
      </p:sp>
    </p:spTree>
    <p:extLst>
      <p:ext uri="{BB962C8B-B14F-4D97-AF65-F5344CB8AC3E}">
        <p14:creationId xmlns:p14="http://schemas.microsoft.com/office/powerpoint/2010/main" val="81206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340FA-4D59-CB79-CF9A-7A24CA5281D9}"/>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E6416720-57C7-F76B-8ABA-DD1DDA68FCE8}"/>
              </a:ext>
            </a:extLst>
          </p:cNvPr>
          <p:cNvSpPr>
            <a:spLocks noGrp="1"/>
          </p:cNvSpPr>
          <p:nvPr>
            <p:ph sz="quarter" idx="13"/>
          </p:nvPr>
        </p:nvSpPr>
        <p:spPr/>
        <p:txBody>
          <a:bodyPr/>
          <a:lstStyle/>
          <a:p>
            <a:r>
              <a:rPr lang="ja-JP" altLang="en-US">
                <a:solidFill>
                  <a:schemeClr val="bg1"/>
                </a:solidFill>
              </a:rPr>
              <a:t>分析②：統計</a:t>
            </a:r>
            <a:r>
              <a:rPr lang="ja-JP" altLang="en-US" dirty="0">
                <a:solidFill>
                  <a:schemeClr val="bg1"/>
                </a:solidFill>
              </a:rPr>
              <a:t>検定</a:t>
            </a:r>
            <a:endParaRPr kumimoji="1" lang="ja-JP" altLang="en-US" dirty="0">
              <a:solidFill>
                <a:schemeClr val="bg1"/>
              </a:solidFill>
            </a:endParaRPr>
          </a:p>
        </p:txBody>
      </p:sp>
      <p:graphicFrame>
        <p:nvGraphicFramePr>
          <p:cNvPr id="4" name="表 3">
            <a:extLst>
              <a:ext uri="{FF2B5EF4-FFF2-40B4-BE49-F238E27FC236}">
                <a16:creationId xmlns:a16="http://schemas.microsoft.com/office/drawing/2014/main" id="{2AC7A1C0-2BA6-CFEF-CC0F-D7402A0B66E7}"/>
              </a:ext>
            </a:extLst>
          </p:cNvPr>
          <p:cNvGraphicFramePr>
            <a:graphicFrameLocks noGrp="1"/>
          </p:cNvGraphicFramePr>
          <p:nvPr>
            <p:extLst>
              <p:ext uri="{D42A27DB-BD31-4B8C-83A1-F6EECF244321}">
                <p14:modId xmlns:p14="http://schemas.microsoft.com/office/powerpoint/2010/main" val="103304787"/>
              </p:ext>
            </p:extLst>
          </p:nvPr>
        </p:nvGraphicFramePr>
        <p:xfrm>
          <a:off x="1016376" y="2448208"/>
          <a:ext cx="10065481" cy="2887254"/>
        </p:xfrm>
        <a:graphic>
          <a:graphicData uri="http://schemas.openxmlformats.org/drawingml/2006/table">
            <a:tbl>
              <a:tblPr firstRow="1" bandRow="1">
                <a:tableStyleId>{F2DE63D5-997A-4646-A377-4702673A728D}</a:tableStyleId>
              </a:tblPr>
              <a:tblGrid>
                <a:gridCol w="3603612">
                  <a:extLst>
                    <a:ext uri="{9D8B030D-6E8A-4147-A177-3AD203B41FA5}">
                      <a16:colId xmlns:a16="http://schemas.microsoft.com/office/drawing/2014/main" val="2223287118"/>
                    </a:ext>
                  </a:extLst>
                </a:gridCol>
                <a:gridCol w="2603901">
                  <a:extLst>
                    <a:ext uri="{9D8B030D-6E8A-4147-A177-3AD203B41FA5}">
                      <a16:colId xmlns:a16="http://schemas.microsoft.com/office/drawing/2014/main" val="3588801372"/>
                    </a:ext>
                  </a:extLst>
                </a:gridCol>
                <a:gridCol w="3857968">
                  <a:extLst>
                    <a:ext uri="{9D8B030D-6E8A-4147-A177-3AD203B41FA5}">
                      <a16:colId xmlns:a16="http://schemas.microsoft.com/office/drawing/2014/main" val="1506713343"/>
                    </a:ext>
                  </a:extLst>
                </a:gridCol>
              </a:tblGrid>
              <a:tr h="540000">
                <a:tc>
                  <a:txBody>
                    <a:bodyPr/>
                    <a:lstStyle/>
                    <a:p>
                      <a:pPr algn="ctr"/>
                      <a:r>
                        <a:rPr kumimoji="1" lang="ja-JP" altLang="en-US" dirty="0"/>
                        <a:t>検証内容</a:t>
                      </a:r>
                    </a:p>
                  </a:txBody>
                  <a:tcPr anchor="ctr">
                    <a:solidFill>
                      <a:schemeClr val="bg1">
                        <a:lumMod val="75000"/>
                      </a:schemeClr>
                    </a:solidFill>
                  </a:tcPr>
                </a:tc>
                <a:tc>
                  <a:txBody>
                    <a:bodyPr/>
                    <a:lstStyle/>
                    <a:p>
                      <a:pPr algn="ctr"/>
                      <a:r>
                        <a:rPr kumimoji="1" lang="ja-JP" altLang="en-US" dirty="0"/>
                        <a:t>検定手法</a:t>
                      </a:r>
                    </a:p>
                  </a:txBody>
                  <a:tcPr anchor="ctr">
                    <a:solidFill>
                      <a:schemeClr val="bg1">
                        <a:lumMod val="75000"/>
                      </a:schemeClr>
                    </a:solidFill>
                  </a:tcPr>
                </a:tc>
                <a:tc>
                  <a:txBody>
                    <a:bodyPr/>
                    <a:lstStyle/>
                    <a:p>
                      <a:pPr algn="ctr"/>
                      <a:r>
                        <a:rPr kumimoji="1" lang="ja-JP" altLang="en-US" dirty="0"/>
                        <a:t>結果</a:t>
                      </a:r>
                    </a:p>
                  </a:txBody>
                  <a:tcPr anchor="ctr">
                    <a:solidFill>
                      <a:schemeClr val="bg1">
                        <a:lumMod val="75000"/>
                      </a:schemeClr>
                    </a:solidFill>
                  </a:tcPr>
                </a:tc>
                <a:extLst>
                  <a:ext uri="{0D108BD9-81ED-4DB2-BD59-A6C34878D82A}">
                    <a16:rowId xmlns:a16="http://schemas.microsoft.com/office/drawing/2014/main" val="1620950507"/>
                  </a:ext>
                </a:extLst>
              </a:tr>
              <a:tr h="782418">
                <a:tc>
                  <a:txBody>
                    <a:bodyPr/>
                    <a:lstStyle/>
                    <a:p>
                      <a:pPr algn="l"/>
                      <a:r>
                        <a:rPr kumimoji="1" lang="ja-JP" altLang="en-US" dirty="0"/>
                        <a:t>収入水準</a:t>
                      </a:r>
                      <a:r>
                        <a:rPr kumimoji="1" lang="en-US" altLang="ja-JP" dirty="0"/>
                        <a:t>×</a:t>
                      </a:r>
                      <a:r>
                        <a:rPr kumimoji="1" lang="ja-JP" altLang="en-US" dirty="0"/>
                        <a:t>反応有無</a:t>
                      </a:r>
                    </a:p>
                  </a:txBody>
                  <a:tcPr anchor="ctr"/>
                </a:tc>
                <a:tc>
                  <a:txBody>
                    <a:bodyPr/>
                    <a:lstStyle/>
                    <a:p>
                      <a:pPr algn="ctr"/>
                      <a:r>
                        <a:rPr kumimoji="1" lang="en-US" altLang="ja-JP" b="0" dirty="0"/>
                        <a:t>Welch</a:t>
                      </a:r>
                      <a:r>
                        <a:rPr kumimoji="1" lang="ja-JP" altLang="en-US" b="0" dirty="0"/>
                        <a:t>の</a:t>
                      </a:r>
                      <a:r>
                        <a:rPr kumimoji="1" lang="en-US" altLang="ja-JP" b="0" dirty="0"/>
                        <a:t>t</a:t>
                      </a:r>
                      <a:r>
                        <a:rPr kumimoji="1" lang="ja-JP" altLang="en-US" b="0" dirty="0"/>
                        <a:t>検定</a:t>
                      </a:r>
                    </a:p>
                  </a:txBody>
                  <a:tcPr anchor="ctr"/>
                </a:tc>
                <a:tc>
                  <a:txBody>
                    <a:bodyPr/>
                    <a:lstStyle/>
                    <a:p>
                      <a:pPr algn="ctr"/>
                      <a:r>
                        <a:rPr kumimoji="1" lang="ja-JP" altLang="en-US" dirty="0"/>
                        <a:t>有意差あり（</a:t>
                      </a:r>
                      <a:r>
                        <a:rPr kumimoji="1" lang="en-US" altLang="ja-JP" dirty="0"/>
                        <a:t>p&lt;0.01</a:t>
                      </a:r>
                      <a:r>
                        <a:rPr kumimoji="1" lang="ja-JP" altLang="en-US" dirty="0"/>
                        <a:t>）</a:t>
                      </a:r>
                    </a:p>
                  </a:txBody>
                  <a:tcPr anchor="ctr"/>
                </a:tc>
                <a:extLst>
                  <a:ext uri="{0D108BD9-81ED-4DB2-BD59-A6C34878D82A}">
                    <a16:rowId xmlns:a16="http://schemas.microsoft.com/office/drawing/2014/main" val="966084132"/>
                  </a:ext>
                </a:extLst>
              </a:tr>
              <a:tr h="782418">
                <a:tc>
                  <a:txBody>
                    <a:bodyPr/>
                    <a:lstStyle/>
                    <a:p>
                      <a:pPr algn="l"/>
                      <a:r>
                        <a:rPr kumimoji="1" lang="ja-JP" altLang="en-US" dirty="0"/>
                        <a:t>学歴（大卒以上）</a:t>
                      </a:r>
                      <a:r>
                        <a:rPr kumimoji="1" lang="en-US" altLang="ja-JP" dirty="0"/>
                        <a:t>×</a:t>
                      </a:r>
                      <a:r>
                        <a:rPr kumimoji="1" lang="ja-JP" altLang="en-US" dirty="0"/>
                        <a:t>反応有無</a:t>
                      </a:r>
                    </a:p>
                  </a:txBody>
                  <a:tcPr anchor="ctr"/>
                </a:tc>
                <a:tc>
                  <a:txBody>
                    <a:bodyPr/>
                    <a:lstStyle/>
                    <a:p>
                      <a:pPr algn="ctr"/>
                      <a:r>
                        <a:rPr kumimoji="1" lang="el-GR" altLang="ja-JP" b="0" dirty="0"/>
                        <a:t>Χ</a:t>
                      </a:r>
                      <a:r>
                        <a:rPr kumimoji="1" lang="ja-JP" altLang="en-US" b="0" dirty="0"/>
                        <a:t>二乗検定</a:t>
                      </a:r>
                    </a:p>
                  </a:txBody>
                  <a:tcPr anchor="ctr"/>
                </a:tc>
                <a:tc>
                  <a:txBody>
                    <a:bodyPr/>
                    <a:lstStyle/>
                    <a:p>
                      <a:pPr algn="ctr"/>
                      <a:r>
                        <a:rPr kumimoji="1" lang="ja-JP" altLang="en-US" dirty="0"/>
                        <a:t>有意差あり（</a:t>
                      </a:r>
                      <a:r>
                        <a:rPr kumimoji="1" lang="en-US" altLang="ja-JP" dirty="0"/>
                        <a:t>p&lt;0.05</a:t>
                      </a:r>
                      <a:r>
                        <a:rPr kumimoji="1" lang="ja-JP" altLang="en-US" dirty="0"/>
                        <a:t>）</a:t>
                      </a:r>
                    </a:p>
                  </a:txBody>
                  <a:tcPr anchor="ctr"/>
                </a:tc>
                <a:extLst>
                  <a:ext uri="{0D108BD9-81ED-4DB2-BD59-A6C34878D82A}">
                    <a16:rowId xmlns:a16="http://schemas.microsoft.com/office/drawing/2014/main" val="1714161579"/>
                  </a:ext>
                </a:extLst>
              </a:tr>
              <a:tr h="782418">
                <a:tc>
                  <a:txBody>
                    <a:bodyPr/>
                    <a:lstStyle/>
                    <a:p>
                      <a:pPr algn="l"/>
                      <a:r>
                        <a:rPr kumimoji="1" lang="ja-JP" altLang="en-US" dirty="0"/>
                        <a:t>パートナー有無</a:t>
                      </a:r>
                      <a:r>
                        <a:rPr kumimoji="1" lang="en-US" altLang="ja-JP" dirty="0"/>
                        <a:t>×</a:t>
                      </a:r>
                      <a:r>
                        <a:rPr kumimoji="1" lang="ja-JP" altLang="en-US" dirty="0"/>
                        <a:t>反応有無</a:t>
                      </a:r>
                    </a:p>
                  </a:txBody>
                  <a:tcPr anchor="ctr"/>
                </a:tc>
                <a:tc>
                  <a:txBody>
                    <a:bodyPr/>
                    <a:lstStyle/>
                    <a:p>
                      <a:pPr algn="ctr"/>
                      <a:r>
                        <a:rPr kumimoji="1" lang="el-GR" altLang="ja-JP" b="0" dirty="0"/>
                        <a:t>Χ</a:t>
                      </a:r>
                      <a:r>
                        <a:rPr kumimoji="1" lang="ja-JP" altLang="en-US" b="0" dirty="0"/>
                        <a:t>二乗検定</a:t>
                      </a:r>
                    </a:p>
                  </a:txBody>
                  <a:tcPr anchor="ctr"/>
                </a:tc>
                <a:tc>
                  <a:txBody>
                    <a:bodyPr/>
                    <a:lstStyle/>
                    <a:p>
                      <a:pPr algn="ctr"/>
                      <a:r>
                        <a:rPr kumimoji="1" lang="ja-JP" altLang="en-US" dirty="0"/>
                        <a:t>有意差なし（</a:t>
                      </a:r>
                      <a:r>
                        <a:rPr kumimoji="1" lang="en-US" altLang="ja-JP" dirty="0"/>
                        <a:t>p&gt;0.05</a:t>
                      </a:r>
                      <a:r>
                        <a:rPr kumimoji="1" lang="ja-JP" altLang="en-US" dirty="0"/>
                        <a:t>）</a:t>
                      </a:r>
                    </a:p>
                  </a:txBody>
                  <a:tcPr anchor="ctr"/>
                </a:tc>
                <a:extLst>
                  <a:ext uri="{0D108BD9-81ED-4DB2-BD59-A6C34878D82A}">
                    <a16:rowId xmlns:a16="http://schemas.microsoft.com/office/drawing/2014/main" val="3052819393"/>
                  </a:ext>
                </a:extLst>
              </a:tr>
            </a:tbl>
          </a:graphicData>
        </a:graphic>
      </p:graphicFrame>
      <p:sp>
        <p:nvSpPr>
          <p:cNvPr id="7" name="テキスト ボックス 6">
            <a:extLst>
              <a:ext uri="{FF2B5EF4-FFF2-40B4-BE49-F238E27FC236}">
                <a16:creationId xmlns:a16="http://schemas.microsoft.com/office/drawing/2014/main" id="{0386DA78-C92D-97C1-2E38-743AF641B460}"/>
              </a:ext>
            </a:extLst>
          </p:cNvPr>
          <p:cNvSpPr txBox="1"/>
          <p:nvPr/>
        </p:nvSpPr>
        <p:spPr>
          <a:xfrm>
            <a:off x="906012" y="1853967"/>
            <a:ext cx="3647152" cy="369332"/>
          </a:xfrm>
          <a:prstGeom prst="rect">
            <a:avLst/>
          </a:prstGeom>
          <a:noFill/>
        </p:spPr>
        <p:txBody>
          <a:bodyPr wrap="none" rtlCol="0">
            <a:spAutoFit/>
          </a:bodyPr>
          <a:lstStyle/>
          <a:p>
            <a:r>
              <a:rPr lang="ja-JP" altLang="en-US" b="1" dirty="0">
                <a:solidFill>
                  <a:schemeClr val="accent5"/>
                </a:solidFill>
              </a:rPr>
              <a:t>回帰結果の補足検証（統計検定）</a:t>
            </a:r>
            <a:endParaRPr kumimoji="1" lang="ja-JP" altLang="en-US" b="1" dirty="0">
              <a:solidFill>
                <a:schemeClr val="accent5"/>
              </a:solidFill>
            </a:endParaRPr>
          </a:p>
        </p:txBody>
      </p:sp>
    </p:spTree>
    <p:extLst>
      <p:ext uri="{BB962C8B-B14F-4D97-AF65-F5344CB8AC3E}">
        <p14:creationId xmlns:p14="http://schemas.microsoft.com/office/powerpoint/2010/main" val="3584475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02C24-E440-A447-AA23-ADE79EF87FDA}"/>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B6370A0D-CCCE-B2EE-5E25-21560FDB2496}"/>
              </a:ext>
            </a:extLst>
          </p:cNvPr>
          <p:cNvSpPr>
            <a:spLocks noGrp="1"/>
          </p:cNvSpPr>
          <p:nvPr>
            <p:ph sz="quarter" idx="13"/>
          </p:nvPr>
        </p:nvSpPr>
        <p:spPr/>
        <p:txBody>
          <a:bodyPr/>
          <a:lstStyle/>
          <a:p>
            <a:r>
              <a:rPr kumimoji="1" lang="ja-JP" altLang="en-US" dirty="0">
                <a:solidFill>
                  <a:schemeClr val="bg1"/>
                </a:solidFill>
              </a:rPr>
              <a:t>解釈①</a:t>
            </a:r>
          </a:p>
        </p:txBody>
      </p:sp>
      <p:sp>
        <p:nvSpPr>
          <p:cNvPr id="3" name="コンテンツ プレースホルダー 2">
            <a:extLst>
              <a:ext uri="{FF2B5EF4-FFF2-40B4-BE49-F238E27FC236}">
                <a16:creationId xmlns:a16="http://schemas.microsoft.com/office/drawing/2014/main" id="{CFF6CF3B-D147-F499-F48E-DD489C1CE787}"/>
              </a:ext>
            </a:extLst>
          </p:cNvPr>
          <p:cNvSpPr>
            <a:spLocks noGrp="1"/>
          </p:cNvSpPr>
          <p:nvPr>
            <p:ph sz="quarter" idx="14"/>
          </p:nvPr>
        </p:nvSpPr>
        <p:spPr>
          <a:xfrm>
            <a:off x="838200" y="1654140"/>
            <a:ext cx="10515599" cy="4289460"/>
          </a:xfrm>
        </p:spPr>
        <p:txBody>
          <a:bodyPr>
            <a:normAutofit/>
          </a:bodyPr>
          <a:lstStyle/>
          <a:p>
            <a:pPr marL="0" indent="0">
              <a:buNone/>
            </a:pPr>
            <a:r>
              <a:rPr lang="ja-JP" altLang="en-US" b="1" dirty="0"/>
              <a:t>データから読み取れる事実</a:t>
            </a:r>
            <a:endParaRPr lang="en-US" altLang="ja-JP" b="1" dirty="0"/>
          </a:p>
          <a:p>
            <a:r>
              <a:rPr lang="ja-JP" altLang="en-US" dirty="0"/>
              <a:t>収入は、他の属性を調整したうえでもキャンペーン反応に安定して正の影響を持つ。</a:t>
            </a:r>
            <a:endParaRPr lang="en-US" altLang="ja-JP" dirty="0"/>
          </a:p>
          <a:p>
            <a:r>
              <a:rPr kumimoji="1" lang="ja-JP" altLang="en-US" dirty="0"/>
              <a:t>学歴は「大卒以上」で</a:t>
            </a:r>
            <a:r>
              <a:rPr kumimoji="1" lang="en-US" altLang="ja-JP" dirty="0"/>
              <a:t>2</a:t>
            </a:r>
            <a:r>
              <a:rPr lang="ja-JP" altLang="en-US" dirty="0"/>
              <a:t>値化することで、反応有無との優位な関係が明確になった。</a:t>
            </a:r>
            <a:endParaRPr lang="en-US" altLang="ja-JP" dirty="0"/>
          </a:p>
          <a:p>
            <a:r>
              <a:rPr kumimoji="1" lang="ja-JP" altLang="en-US" dirty="0"/>
              <a:t>一方でパートナー有無などの属性は、単独では強い影響を持たなかった。</a:t>
            </a:r>
            <a:endParaRPr kumimoji="1" lang="en-US" altLang="ja-JP" dirty="0"/>
          </a:p>
        </p:txBody>
      </p:sp>
    </p:spTree>
    <p:extLst>
      <p:ext uri="{BB962C8B-B14F-4D97-AF65-F5344CB8AC3E}">
        <p14:creationId xmlns:p14="http://schemas.microsoft.com/office/powerpoint/2010/main" val="12410805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72DAD-D451-403F-CDC4-7A9C4B8EE67E}"/>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8C26BA04-F2EA-6EAB-036F-03277764F21C}"/>
              </a:ext>
            </a:extLst>
          </p:cNvPr>
          <p:cNvSpPr>
            <a:spLocks noGrp="1"/>
          </p:cNvSpPr>
          <p:nvPr>
            <p:ph sz="quarter" idx="13"/>
          </p:nvPr>
        </p:nvSpPr>
        <p:spPr/>
        <p:txBody>
          <a:bodyPr/>
          <a:lstStyle/>
          <a:p>
            <a:r>
              <a:rPr kumimoji="1" lang="ja-JP" altLang="en-US" dirty="0">
                <a:solidFill>
                  <a:schemeClr val="bg1"/>
                </a:solidFill>
              </a:rPr>
              <a:t>解釈②</a:t>
            </a:r>
          </a:p>
        </p:txBody>
      </p:sp>
      <p:sp>
        <p:nvSpPr>
          <p:cNvPr id="3" name="コンテンツ プレースホルダー 2">
            <a:extLst>
              <a:ext uri="{FF2B5EF4-FFF2-40B4-BE49-F238E27FC236}">
                <a16:creationId xmlns:a16="http://schemas.microsoft.com/office/drawing/2014/main" id="{0D466749-05B2-F777-72C2-1EC0E80597C3}"/>
              </a:ext>
            </a:extLst>
          </p:cNvPr>
          <p:cNvSpPr>
            <a:spLocks noGrp="1"/>
          </p:cNvSpPr>
          <p:nvPr>
            <p:ph sz="quarter" idx="14"/>
          </p:nvPr>
        </p:nvSpPr>
        <p:spPr>
          <a:xfrm>
            <a:off x="838200" y="1654140"/>
            <a:ext cx="10515599" cy="4289460"/>
          </a:xfrm>
        </p:spPr>
        <p:txBody>
          <a:bodyPr>
            <a:normAutofit/>
          </a:bodyPr>
          <a:lstStyle/>
          <a:p>
            <a:pPr marL="0" indent="0">
              <a:buNone/>
            </a:pPr>
            <a:r>
              <a:rPr lang="ja-JP" altLang="en-US" b="1" dirty="0"/>
              <a:t>事実に基づく意味付け</a:t>
            </a:r>
            <a:endParaRPr lang="en-US" altLang="ja-JP" b="1" dirty="0"/>
          </a:p>
          <a:p>
            <a:r>
              <a:rPr lang="ja-JP" altLang="en-US" dirty="0"/>
              <a:t>反応しやすいのは、経済的に余裕がある可能性の高い層</a:t>
            </a:r>
            <a:endParaRPr lang="en-US" altLang="ja-JP" dirty="0"/>
          </a:p>
          <a:p>
            <a:r>
              <a:rPr lang="ja-JP" altLang="en-US" dirty="0"/>
              <a:t>収入・学歴はその傾向をとらえる有効な代理指標と考えられる。</a:t>
            </a:r>
            <a:endParaRPr lang="en-US" altLang="ja-JP" dirty="0"/>
          </a:p>
          <a:p>
            <a:r>
              <a:rPr lang="ja-JP" altLang="en-US" dirty="0"/>
              <a:t>パートナー有無は、経済的余裕を説明する指標としては限定的</a:t>
            </a:r>
            <a:endParaRPr lang="en-US" altLang="ja-JP" dirty="0"/>
          </a:p>
          <a:p>
            <a:endParaRPr kumimoji="1" lang="en-US" altLang="ja-JP" dirty="0"/>
          </a:p>
          <a:p>
            <a:pPr marL="0" indent="0">
              <a:buNone/>
            </a:pPr>
            <a:r>
              <a:rPr lang="en-US" altLang="ja-JP" dirty="0"/>
              <a:t>※</a:t>
            </a:r>
            <a:r>
              <a:rPr lang="ja-JP" altLang="en-US" dirty="0"/>
              <a:t>因果関係を直接示すものではない。</a:t>
            </a:r>
            <a:endParaRPr lang="en-US" altLang="ja-JP" dirty="0"/>
          </a:p>
        </p:txBody>
      </p:sp>
    </p:spTree>
    <p:extLst>
      <p:ext uri="{BB962C8B-B14F-4D97-AF65-F5344CB8AC3E}">
        <p14:creationId xmlns:p14="http://schemas.microsoft.com/office/powerpoint/2010/main" val="2226224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9DE-B2C9-6305-D70A-4640B1797302}"/>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5CE5269E-6685-D225-3AD8-2468E73CEF0A}"/>
              </a:ext>
            </a:extLst>
          </p:cNvPr>
          <p:cNvSpPr>
            <a:spLocks noGrp="1"/>
          </p:cNvSpPr>
          <p:nvPr>
            <p:ph sz="quarter" idx="13"/>
          </p:nvPr>
        </p:nvSpPr>
        <p:spPr/>
        <p:txBody>
          <a:bodyPr/>
          <a:lstStyle/>
          <a:p>
            <a:r>
              <a:rPr kumimoji="1" lang="en-US" altLang="ja-JP" dirty="0">
                <a:solidFill>
                  <a:schemeClr val="bg1"/>
                </a:solidFill>
              </a:rPr>
              <a:t>Next</a:t>
            </a:r>
            <a:r>
              <a:rPr kumimoji="1" lang="ja-JP" altLang="en-US" dirty="0">
                <a:solidFill>
                  <a:schemeClr val="bg1"/>
                </a:solidFill>
              </a:rPr>
              <a:t> </a:t>
            </a:r>
            <a:r>
              <a:rPr kumimoji="1" lang="en-US" altLang="ja-JP" dirty="0">
                <a:solidFill>
                  <a:schemeClr val="bg1"/>
                </a:solidFill>
              </a:rPr>
              <a:t>Action</a:t>
            </a:r>
            <a:endParaRPr kumimoji="1" lang="ja-JP" altLang="en-US" dirty="0">
              <a:solidFill>
                <a:schemeClr val="bg1"/>
              </a:solidFill>
            </a:endParaRPr>
          </a:p>
        </p:txBody>
      </p:sp>
      <p:sp>
        <p:nvSpPr>
          <p:cNvPr id="3" name="コンテンツ プレースホルダー 2">
            <a:extLst>
              <a:ext uri="{FF2B5EF4-FFF2-40B4-BE49-F238E27FC236}">
                <a16:creationId xmlns:a16="http://schemas.microsoft.com/office/drawing/2014/main" id="{6C3AF0E9-490C-1D14-9285-AB0709DA7F30}"/>
              </a:ext>
            </a:extLst>
          </p:cNvPr>
          <p:cNvSpPr>
            <a:spLocks noGrp="1"/>
          </p:cNvSpPr>
          <p:nvPr>
            <p:ph sz="quarter" idx="14"/>
          </p:nvPr>
        </p:nvSpPr>
        <p:spPr/>
        <p:txBody>
          <a:bodyPr>
            <a:normAutofit/>
          </a:bodyPr>
          <a:lstStyle/>
          <a:p>
            <a:pPr marL="0" indent="0">
              <a:buNone/>
            </a:pPr>
            <a:r>
              <a:rPr lang="ja-JP" altLang="en-US" b="1" dirty="0"/>
              <a:t>提案</a:t>
            </a:r>
            <a:endParaRPr lang="en-US" altLang="ja-JP" b="1" dirty="0"/>
          </a:p>
          <a:p>
            <a:r>
              <a:rPr kumimoji="1" lang="ja-JP" altLang="en-US" dirty="0"/>
              <a:t>全顧客一律配信は行わず、配信優先順位を設計</a:t>
            </a:r>
            <a:endParaRPr kumimoji="1" lang="en-US" altLang="ja-JP" dirty="0"/>
          </a:p>
          <a:p>
            <a:r>
              <a:rPr lang="ja-JP" altLang="en-US" dirty="0"/>
              <a:t>高収入層を最優先とした配信設計を実施</a:t>
            </a:r>
            <a:endParaRPr lang="en-US" altLang="ja-JP" dirty="0"/>
          </a:p>
          <a:p>
            <a:r>
              <a:rPr kumimoji="1" lang="ja-JP" altLang="en-US" dirty="0"/>
              <a:t>高収入層の中で、下記のような形でメッセージを出し分け</a:t>
            </a:r>
            <a:endParaRPr kumimoji="1" lang="en-US" altLang="ja-JP" dirty="0"/>
          </a:p>
          <a:p>
            <a:pPr lvl="1"/>
            <a:r>
              <a:rPr lang="ja-JP" altLang="en-US" dirty="0"/>
              <a:t>大卒以上</a:t>
            </a:r>
            <a:r>
              <a:rPr lang="en-US" altLang="ja-JP" dirty="0"/>
              <a:t>×</a:t>
            </a:r>
            <a:r>
              <a:rPr lang="ja-JP" altLang="en-US" dirty="0"/>
              <a:t>訴求</a:t>
            </a:r>
            <a:r>
              <a:rPr lang="en-US" altLang="ja-JP" dirty="0"/>
              <a:t>A</a:t>
            </a:r>
          </a:p>
          <a:p>
            <a:pPr lvl="1"/>
            <a:r>
              <a:rPr lang="ja-JP" altLang="en-US" dirty="0"/>
              <a:t>大卒未満</a:t>
            </a:r>
            <a:r>
              <a:rPr kumimoji="1" lang="en-US" altLang="ja-JP" dirty="0"/>
              <a:t>×</a:t>
            </a:r>
            <a:r>
              <a:rPr kumimoji="1" lang="ja-JP" altLang="en-US" dirty="0"/>
              <a:t>訴求</a:t>
            </a:r>
            <a:r>
              <a:rPr kumimoji="1" lang="en-US" altLang="ja-JP" dirty="0"/>
              <a:t>B</a:t>
            </a:r>
          </a:p>
          <a:p>
            <a:endParaRPr kumimoji="1" lang="en-US" altLang="ja-JP" dirty="0"/>
          </a:p>
          <a:p>
            <a:pPr marL="0" indent="0">
              <a:buNone/>
            </a:pPr>
            <a:endParaRPr lang="en-US" altLang="ja-JP" dirty="0"/>
          </a:p>
        </p:txBody>
      </p:sp>
    </p:spTree>
    <p:extLst>
      <p:ext uri="{BB962C8B-B14F-4D97-AF65-F5344CB8AC3E}">
        <p14:creationId xmlns:p14="http://schemas.microsoft.com/office/powerpoint/2010/main" val="20130609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6F81708-D06B-D43E-15BB-015F10CF4A42}"/>
              </a:ext>
            </a:extLst>
          </p:cNvPr>
          <p:cNvSpPr/>
          <p:nvPr/>
        </p:nvSpPr>
        <p:spPr>
          <a:xfrm>
            <a:off x="0" y="0"/>
            <a:ext cx="12192000" cy="6858000"/>
          </a:xfrm>
          <a:prstGeom prst="rect">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7200" dirty="0"/>
              <a:t>Thank you !</a:t>
            </a:r>
            <a:endParaRPr kumimoji="1" lang="ja-JP" altLang="en-US" dirty="0"/>
          </a:p>
        </p:txBody>
      </p:sp>
    </p:spTree>
    <p:extLst>
      <p:ext uri="{BB962C8B-B14F-4D97-AF65-F5344CB8AC3E}">
        <p14:creationId xmlns:p14="http://schemas.microsoft.com/office/powerpoint/2010/main" val="2546619081"/>
      </p:ext>
    </p:extLst>
  </p:cSld>
  <p:clrMapOvr>
    <a:masterClrMapping/>
  </p:clrMapOvr>
</p:sld>
</file>

<file path=ppt/theme/theme1.xml><?xml version="1.0" encoding="utf-8"?>
<a:theme xmlns:a="http://schemas.openxmlformats.org/drawingml/2006/main" name="Office テーマ">
  <a:themeElements>
    <a:clrScheme name="ユーザー定義 3">
      <a:dk1>
        <a:srgbClr val="3A3838"/>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ユーザー定義 3">
      <a:majorFont>
        <a:latin typeface="Arial"/>
        <a:ea typeface="游ゴシック Light"/>
        <a:cs typeface=""/>
      </a:majorFont>
      <a:minorFont>
        <a:latin typeface="Arial"/>
        <a:ea typeface="游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165</TotalTime>
  <Words>544</Words>
  <Application>Microsoft Office PowerPoint</Application>
  <PresentationFormat>ワイド画面</PresentationFormat>
  <Paragraphs>69</Paragraphs>
  <Slides>10</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10</vt:i4>
      </vt:variant>
    </vt:vector>
  </HeadingPairs>
  <TitlesOfParts>
    <vt:vector size="13" baseType="lpstr">
      <vt:lpstr>Arial</vt:lpstr>
      <vt:lpstr>Wingdings</vt:lpstr>
      <vt:lpstr>Office テーマ</vt:lpstr>
      <vt:lpstr>キャンペーン反応要因の定量化と 配信優先順位の設計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佑太 丹羽</dc:creator>
  <cp:lastModifiedBy>佑太 丹羽</cp:lastModifiedBy>
  <cp:revision>7</cp:revision>
  <dcterms:created xsi:type="dcterms:W3CDTF">2026-01-12T06:29:16Z</dcterms:created>
  <dcterms:modified xsi:type="dcterms:W3CDTF">2026-01-12T14:07:33Z</dcterms:modified>
</cp:coreProperties>
</file>